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Yeseva One" charset="1" panose="00000500000000000000"/>
      <p:regular r:id="rId16"/>
    </p:embeddedFont>
    <p:embeddedFont>
      <p:font typeface="Libre Baskerville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80242" y="2023124"/>
            <a:ext cx="10471651" cy="7825179"/>
          </a:xfrm>
          <a:custGeom>
            <a:avLst/>
            <a:gdLst/>
            <a:ahLst/>
            <a:cxnLst/>
            <a:rect r="r" b="b" t="t" l="l"/>
            <a:pathLst>
              <a:path h="7825179" w="10471651">
                <a:moveTo>
                  <a:pt x="0" y="0"/>
                </a:moveTo>
                <a:lnTo>
                  <a:pt x="10471651" y="0"/>
                </a:lnTo>
                <a:lnTo>
                  <a:pt x="10471651" y="7825180"/>
                </a:lnTo>
                <a:lnTo>
                  <a:pt x="0" y="7825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9828150" y="-5257350"/>
            <a:ext cx="8687917" cy="8217506"/>
          </a:xfrm>
          <a:custGeom>
            <a:avLst/>
            <a:gdLst/>
            <a:ahLst/>
            <a:cxnLst/>
            <a:rect r="r" b="b" t="t" l="l"/>
            <a:pathLst>
              <a:path h="8217506" w="8687917">
                <a:moveTo>
                  <a:pt x="8687917" y="8217506"/>
                </a:moveTo>
                <a:lnTo>
                  <a:pt x="0" y="8217506"/>
                </a:lnTo>
                <a:lnTo>
                  <a:pt x="0" y="0"/>
                </a:lnTo>
                <a:lnTo>
                  <a:pt x="8687917" y="0"/>
                </a:lnTo>
                <a:lnTo>
                  <a:pt x="8687917" y="8217506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202540" y="2461821"/>
            <a:ext cx="10471651" cy="7825179"/>
          </a:xfrm>
          <a:custGeom>
            <a:avLst/>
            <a:gdLst/>
            <a:ahLst/>
            <a:cxnLst/>
            <a:rect r="r" b="b" t="t" l="l"/>
            <a:pathLst>
              <a:path h="7825179" w="10471651">
                <a:moveTo>
                  <a:pt x="0" y="0"/>
                </a:moveTo>
                <a:lnTo>
                  <a:pt x="10471651" y="0"/>
                </a:lnTo>
                <a:lnTo>
                  <a:pt x="10471651" y="7825179"/>
                </a:lnTo>
                <a:lnTo>
                  <a:pt x="0" y="7825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66714" y="7823766"/>
            <a:ext cx="8687917" cy="8217506"/>
          </a:xfrm>
          <a:custGeom>
            <a:avLst/>
            <a:gdLst/>
            <a:ahLst/>
            <a:cxnLst/>
            <a:rect r="r" b="b" t="t" l="l"/>
            <a:pathLst>
              <a:path h="8217506" w="8687917">
                <a:moveTo>
                  <a:pt x="0" y="0"/>
                </a:moveTo>
                <a:lnTo>
                  <a:pt x="8687917" y="0"/>
                </a:lnTo>
                <a:lnTo>
                  <a:pt x="8687917" y="8217506"/>
                </a:lnTo>
                <a:lnTo>
                  <a:pt x="0" y="8217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89699" y="-1154644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0"/>
                </a:moveTo>
                <a:lnTo>
                  <a:pt x="4387518" y="0"/>
                </a:lnTo>
                <a:lnTo>
                  <a:pt x="4387518" y="3350468"/>
                </a:lnTo>
                <a:lnTo>
                  <a:pt x="0" y="33504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2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3900482" y="7823766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3350469"/>
                </a:moveTo>
                <a:lnTo>
                  <a:pt x="4387518" y="3350469"/>
                </a:lnTo>
                <a:lnTo>
                  <a:pt x="4387518" y="0"/>
                </a:lnTo>
                <a:lnTo>
                  <a:pt x="0" y="0"/>
                </a:lnTo>
                <a:lnTo>
                  <a:pt x="0" y="3350469"/>
                </a:lnTo>
                <a:close/>
              </a:path>
            </a:pathLst>
          </a:custGeom>
          <a:blipFill>
            <a:blip r:embed="rId6">
              <a:alphaModFix amt="32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7825" y="2087535"/>
            <a:ext cx="17610175" cy="485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62"/>
              </a:lnSpc>
            </a:pPr>
            <a:r>
              <a:rPr lang="en-US" sz="13901">
                <a:solidFill>
                  <a:srgbClr val="6C4B3B"/>
                </a:solidFill>
                <a:latin typeface="Yeseva One"/>
                <a:ea typeface="Yeseva One"/>
                <a:cs typeface="Yeseva One"/>
                <a:sym typeface="Yeseva One"/>
              </a:rPr>
              <a:t>AI-Based Fake News Detector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18716" y="7002591"/>
            <a:ext cx="11153393" cy="82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3"/>
              </a:lnSpc>
            </a:pPr>
            <a:r>
              <a:rPr lang="en-US" sz="4795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Presented by: Group Alpha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52174" y="-600104"/>
            <a:ext cx="10471651" cy="7825179"/>
          </a:xfrm>
          <a:custGeom>
            <a:avLst/>
            <a:gdLst/>
            <a:ahLst/>
            <a:cxnLst/>
            <a:rect r="r" b="b" t="t" l="l"/>
            <a:pathLst>
              <a:path h="7825179" w="10471651">
                <a:moveTo>
                  <a:pt x="0" y="0"/>
                </a:moveTo>
                <a:lnTo>
                  <a:pt x="10471652" y="0"/>
                </a:lnTo>
                <a:lnTo>
                  <a:pt x="10471652" y="7825179"/>
                </a:lnTo>
                <a:lnTo>
                  <a:pt x="0" y="7825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648340" y="3349055"/>
            <a:ext cx="10471651" cy="7825179"/>
          </a:xfrm>
          <a:custGeom>
            <a:avLst/>
            <a:gdLst/>
            <a:ahLst/>
            <a:cxnLst/>
            <a:rect r="r" b="b" t="t" l="l"/>
            <a:pathLst>
              <a:path h="7825179" w="10471651">
                <a:moveTo>
                  <a:pt x="0" y="0"/>
                </a:moveTo>
                <a:lnTo>
                  <a:pt x="10471651" y="0"/>
                </a:lnTo>
                <a:lnTo>
                  <a:pt x="10471651" y="7825180"/>
                </a:lnTo>
                <a:lnTo>
                  <a:pt x="0" y="7825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556992" y="4790085"/>
            <a:ext cx="12120857" cy="725880"/>
            <a:chOff x="0" y="0"/>
            <a:chExt cx="16161143" cy="96784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21029"/>
              <a:ext cx="659383" cy="594411"/>
              <a:chOff x="0" y="0"/>
              <a:chExt cx="130248" cy="11741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30248" cy="117415"/>
              </a:xfrm>
              <a:custGeom>
                <a:avLst/>
                <a:gdLst/>
                <a:ahLst/>
                <a:cxnLst/>
                <a:rect r="r" b="b" t="t" l="l"/>
                <a:pathLst>
                  <a:path h="117415" w="130248">
                    <a:moveTo>
                      <a:pt x="58707" y="0"/>
                    </a:moveTo>
                    <a:lnTo>
                      <a:pt x="71541" y="0"/>
                    </a:lnTo>
                    <a:cubicBezTo>
                      <a:pt x="103964" y="0"/>
                      <a:pt x="130248" y="26284"/>
                      <a:pt x="130248" y="58707"/>
                    </a:cubicBezTo>
                    <a:lnTo>
                      <a:pt x="130248" y="58707"/>
                    </a:lnTo>
                    <a:cubicBezTo>
                      <a:pt x="130248" y="91130"/>
                      <a:pt x="103964" y="117415"/>
                      <a:pt x="71541" y="117415"/>
                    </a:cubicBezTo>
                    <a:lnTo>
                      <a:pt x="58707" y="117415"/>
                    </a:lnTo>
                    <a:cubicBezTo>
                      <a:pt x="26284" y="117415"/>
                      <a:pt x="0" y="91130"/>
                      <a:pt x="0" y="58707"/>
                    </a:cubicBezTo>
                    <a:lnTo>
                      <a:pt x="0" y="58707"/>
                    </a:lnTo>
                    <a:cubicBezTo>
                      <a:pt x="0" y="26284"/>
                      <a:pt x="26284" y="0"/>
                      <a:pt x="58707" y="0"/>
                    </a:cubicBezTo>
                    <a:close/>
                  </a:path>
                </a:pathLst>
              </a:custGeom>
              <a:solidFill>
                <a:srgbClr val="6C4B3B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28575"/>
                <a:ext cx="130248" cy="1459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119615" y="-95250"/>
              <a:ext cx="15041528" cy="1063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15"/>
                </a:lnSpc>
              </a:pPr>
              <a:r>
                <a:rPr lang="en-US" sz="4797">
                  <a:solidFill>
                    <a:srgbClr val="6C4B3B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Kazi Farhana Faruque BSSE-1506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589699" y="-1154644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0"/>
                </a:moveTo>
                <a:lnTo>
                  <a:pt x="4387518" y="0"/>
                </a:lnTo>
                <a:lnTo>
                  <a:pt x="4387518" y="3350468"/>
                </a:lnTo>
                <a:lnTo>
                  <a:pt x="0" y="3350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3900482" y="7823766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3350469"/>
                </a:moveTo>
                <a:lnTo>
                  <a:pt x="4387518" y="3350469"/>
                </a:lnTo>
                <a:lnTo>
                  <a:pt x="4387518" y="0"/>
                </a:lnTo>
                <a:lnTo>
                  <a:pt x="0" y="0"/>
                </a:lnTo>
                <a:lnTo>
                  <a:pt x="0" y="3350469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72051" y="2289775"/>
            <a:ext cx="13143899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u="sng">
                <a:solidFill>
                  <a:srgbClr val="6C4B3B"/>
                </a:solidFill>
                <a:latin typeface="Yeseva One"/>
                <a:ea typeface="Yeseva One"/>
                <a:cs typeface="Yeseva One"/>
                <a:sym typeface="Yeseva One"/>
              </a:rPr>
              <a:t>Group Member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556992" y="5773140"/>
            <a:ext cx="12120857" cy="725880"/>
            <a:chOff x="0" y="0"/>
            <a:chExt cx="16161143" cy="96784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221029"/>
              <a:ext cx="659383" cy="594411"/>
              <a:chOff x="0" y="0"/>
              <a:chExt cx="130248" cy="11741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30248" cy="117415"/>
              </a:xfrm>
              <a:custGeom>
                <a:avLst/>
                <a:gdLst/>
                <a:ahLst/>
                <a:cxnLst/>
                <a:rect r="r" b="b" t="t" l="l"/>
                <a:pathLst>
                  <a:path h="117415" w="130248">
                    <a:moveTo>
                      <a:pt x="58707" y="0"/>
                    </a:moveTo>
                    <a:lnTo>
                      <a:pt x="71541" y="0"/>
                    </a:lnTo>
                    <a:cubicBezTo>
                      <a:pt x="103964" y="0"/>
                      <a:pt x="130248" y="26284"/>
                      <a:pt x="130248" y="58707"/>
                    </a:cubicBezTo>
                    <a:lnTo>
                      <a:pt x="130248" y="58707"/>
                    </a:lnTo>
                    <a:cubicBezTo>
                      <a:pt x="130248" y="91130"/>
                      <a:pt x="103964" y="117415"/>
                      <a:pt x="71541" y="117415"/>
                    </a:cubicBezTo>
                    <a:lnTo>
                      <a:pt x="58707" y="117415"/>
                    </a:lnTo>
                    <a:cubicBezTo>
                      <a:pt x="26284" y="117415"/>
                      <a:pt x="0" y="91130"/>
                      <a:pt x="0" y="58707"/>
                    </a:cubicBezTo>
                    <a:lnTo>
                      <a:pt x="0" y="58707"/>
                    </a:lnTo>
                    <a:cubicBezTo>
                      <a:pt x="0" y="26284"/>
                      <a:pt x="26284" y="0"/>
                      <a:pt x="58707" y="0"/>
                    </a:cubicBezTo>
                    <a:close/>
                  </a:path>
                </a:pathLst>
              </a:custGeom>
              <a:solidFill>
                <a:srgbClr val="6C4B3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130248" cy="1459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119615" y="-95250"/>
              <a:ext cx="15041528" cy="1063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15"/>
                </a:lnSpc>
              </a:pPr>
              <a:r>
                <a:rPr lang="en-US" sz="4797">
                  <a:solidFill>
                    <a:srgbClr val="6C4B3B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Md Asad Al Mahmud BSSE-1515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566517" y="6836553"/>
            <a:ext cx="12120857" cy="725880"/>
            <a:chOff x="0" y="0"/>
            <a:chExt cx="16161143" cy="96784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221029"/>
              <a:ext cx="659383" cy="594411"/>
              <a:chOff x="0" y="0"/>
              <a:chExt cx="130248" cy="11741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30248" cy="117415"/>
              </a:xfrm>
              <a:custGeom>
                <a:avLst/>
                <a:gdLst/>
                <a:ahLst/>
                <a:cxnLst/>
                <a:rect r="r" b="b" t="t" l="l"/>
                <a:pathLst>
                  <a:path h="117415" w="130248">
                    <a:moveTo>
                      <a:pt x="58707" y="0"/>
                    </a:moveTo>
                    <a:lnTo>
                      <a:pt x="71541" y="0"/>
                    </a:lnTo>
                    <a:cubicBezTo>
                      <a:pt x="103964" y="0"/>
                      <a:pt x="130248" y="26284"/>
                      <a:pt x="130248" y="58707"/>
                    </a:cubicBezTo>
                    <a:lnTo>
                      <a:pt x="130248" y="58707"/>
                    </a:lnTo>
                    <a:cubicBezTo>
                      <a:pt x="130248" y="91130"/>
                      <a:pt x="103964" y="117415"/>
                      <a:pt x="71541" y="117415"/>
                    </a:cubicBezTo>
                    <a:lnTo>
                      <a:pt x="58707" y="117415"/>
                    </a:lnTo>
                    <a:cubicBezTo>
                      <a:pt x="26284" y="117415"/>
                      <a:pt x="0" y="91130"/>
                      <a:pt x="0" y="58707"/>
                    </a:cubicBezTo>
                    <a:lnTo>
                      <a:pt x="0" y="58707"/>
                    </a:lnTo>
                    <a:cubicBezTo>
                      <a:pt x="0" y="26284"/>
                      <a:pt x="26284" y="0"/>
                      <a:pt x="58707" y="0"/>
                    </a:cubicBezTo>
                    <a:close/>
                  </a:path>
                </a:pathLst>
              </a:custGeom>
              <a:solidFill>
                <a:srgbClr val="6C4B3B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130248" cy="1459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119615" y="-95250"/>
              <a:ext cx="15041528" cy="1063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15"/>
                </a:lnSpc>
              </a:pPr>
              <a:r>
                <a:rPr lang="en-US" sz="4797">
                  <a:solidFill>
                    <a:srgbClr val="6C4B3B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Tarek Jamil Adnan BSSE-1520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5235826" y="-762249"/>
            <a:ext cx="10471651" cy="7825179"/>
          </a:xfrm>
          <a:custGeom>
            <a:avLst/>
            <a:gdLst/>
            <a:ahLst/>
            <a:cxnLst/>
            <a:rect r="r" b="b" t="t" l="l"/>
            <a:pathLst>
              <a:path h="7825179" w="10471651">
                <a:moveTo>
                  <a:pt x="10471652" y="0"/>
                </a:moveTo>
                <a:lnTo>
                  <a:pt x="0" y="0"/>
                </a:lnTo>
                <a:lnTo>
                  <a:pt x="0" y="7825179"/>
                </a:lnTo>
                <a:lnTo>
                  <a:pt x="10471652" y="7825179"/>
                </a:lnTo>
                <a:lnTo>
                  <a:pt x="10471652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57437" y="1822559"/>
            <a:ext cx="11773127" cy="136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</a:pPr>
            <a:r>
              <a:rPr lang="en-US" sz="7999" u="sng">
                <a:solidFill>
                  <a:srgbClr val="6C4B3B"/>
                </a:solidFill>
                <a:latin typeface="Yeseva One"/>
                <a:ea typeface="Yeseva One"/>
                <a:cs typeface="Yeseva One"/>
                <a:sym typeface="Yeseva One"/>
              </a:rPr>
              <a:t>List of Contents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57437" y="7031092"/>
            <a:ext cx="1342029" cy="82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29306" y="4405512"/>
            <a:ext cx="5401543" cy="69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5"/>
              </a:lnSpc>
            </a:pPr>
            <a:r>
              <a:rPr lang="en-US" sz="4103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</a:t>
            </a:r>
            <a:r>
              <a:rPr lang="en-US" sz="4103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29306" y="5834698"/>
            <a:ext cx="5029436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</a:t>
            </a:r>
            <a:r>
              <a:rPr lang="en-US" sz="41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roposed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47066" y="7115000"/>
            <a:ext cx="4200864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Ob</a:t>
            </a:r>
            <a:r>
              <a:rPr lang="en-US" sz="41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jectives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47730" y="4343508"/>
            <a:ext cx="4830073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</a:t>
            </a:r>
            <a:r>
              <a:rPr lang="en-US" sz="41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76305" y="5724629"/>
            <a:ext cx="5549207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Expect</a:t>
            </a:r>
            <a:r>
              <a:rPr lang="en-US" sz="41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ed Outcomes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4308447" y="3575384"/>
            <a:ext cx="10471651" cy="7825179"/>
          </a:xfrm>
          <a:custGeom>
            <a:avLst/>
            <a:gdLst/>
            <a:ahLst/>
            <a:cxnLst/>
            <a:rect r="r" b="b" t="t" l="l"/>
            <a:pathLst>
              <a:path h="7825179" w="10471651">
                <a:moveTo>
                  <a:pt x="10471651" y="0"/>
                </a:moveTo>
                <a:lnTo>
                  <a:pt x="0" y="0"/>
                </a:lnTo>
                <a:lnTo>
                  <a:pt x="0" y="7825179"/>
                </a:lnTo>
                <a:lnTo>
                  <a:pt x="10471651" y="7825179"/>
                </a:lnTo>
                <a:lnTo>
                  <a:pt x="10471651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133455" y="7040617"/>
            <a:ext cx="3665420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57437" y="4343508"/>
            <a:ext cx="1342029" cy="82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57437" y="5763896"/>
            <a:ext cx="1342029" cy="82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00950" y="4257512"/>
            <a:ext cx="1342029" cy="82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30849" y="5644302"/>
            <a:ext cx="1342029" cy="82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30849" y="6977205"/>
            <a:ext cx="1342029" cy="82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6.</a:t>
            </a:r>
          </a:p>
        </p:txBody>
      </p:sp>
      <p:sp>
        <p:nvSpPr>
          <p:cNvPr name="Freeform 17" id="17"/>
          <p:cNvSpPr/>
          <p:nvPr/>
        </p:nvSpPr>
        <p:spPr>
          <a:xfrm flipH="false" flipV="true" rot="0">
            <a:off x="0" y="7859131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3350468"/>
                </a:moveTo>
                <a:lnTo>
                  <a:pt x="4387518" y="3350468"/>
                </a:lnTo>
                <a:lnTo>
                  <a:pt x="4387518" y="0"/>
                </a:lnTo>
                <a:lnTo>
                  <a:pt x="0" y="0"/>
                </a:lnTo>
                <a:lnTo>
                  <a:pt x="0" y="3350468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707978" y="-1375509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0"/>
                </a:moveTo>
                <a:lnTo>
                  <a:pt x="4387518" y="0"/>
                </a:lnTo>
                <a:lnTo>
                  <a:pt x="4387518" y="3350468"/>
                </a:lnTo>
                <a:lnTo>
                  <a:pt x="0" y="3350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52174" y="-600104"/>
            <a:ext cx="10471651" cy="7825179"/>
          </a:xfrm>
          <a:custGeom>
            <a:avLst/>
            <a:gdLst/>
            <a:ahLst/>
            <a:cxnLst/>
            <a:rect r="r" b="b" t="t" l="l"/>
            <a:pathLst>
              <a:path h="7825179" w="10471651">
                <a:moveTo>
                  <a:pt x="0" y="0"/>
                </a:moveTo>
                <a:lnTo>
                  <a:pt x="10471652" y="0"/>
                </a:lnTo>
                <a:lnTo>
                  <a:pt x="10471652" y="7825179"/>
                </a:lnTo>
                <a:lnTo>
                  <a:pt x="0" y="7825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648340" y="3349055"/>
            <a:ext cx="10471651" cy="7825179"/>
          </a:xfrm>
          <a:custGeom>
            <a:avLst/>
            <a:gdLst/>
            <a:ahLst/>
            <a:cxnLst/>
            <a:rect r="r" b="b" t="t" l="l"/>
            <a:pathLst>
              <a:path h="7825179" w="10471651">
                <a:moveTo>
                  <a:pt x="0" y="0"/>
                </a:moveTo>
                <a:lnTo>
                  <a:pt x="10471651" y="0"/>
                </a:lnTo>
                <a:lnTo>
                  <a:pt x="10471651" y="7825180"/>
                </a:lnTo>
                <a:lnTo>
                  <a:pt x="0" y="7825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89699" y="-1154644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0"/>
                </a:moveTo>
                <a:lnTo>
                  <a:pt x="4387518" y="0"/>
                </a:lnTo>
                <a:lnTo>
                  <a:pt x="4387518" y="3350468"/>
                </a:lnTo>
                <a:lnTo>
                  <a:pt x="0" y="3350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3900482" y="7823766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3350469"/>
                </a:moveTo>
                <a:lnTo>
                  <a:pt x="4387518" y="3350469"/>
                </a:lnTo>
                <a:lnTo>
                  <a:pt x="4387518" y="0"/>
                </a:lnTo>
                <a:lnTo>
                  <a:pt x="0" y="0"/>
                </a:lnTo>
                <a:lnTo>
                  <a:pt x="0" y="3350469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26369" y="1894940"/>
            <a:ext cx="11254874" cy="136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</a:pPr>
            <a:r>
              <a:rPr lang="en-US" sz="7999" u="sng">
                <a:solidFill>
                  <a:srgbClr val="6C4B3B"/>
                </a:solidFill>
                <a:latin typeface="Yeseva One"/>
                <a:ea typeface="Yeseva One"/>
                <a:cs typeface="Yeseva One"/>
                <a:sym typeface="Yeseva One"/>
              </a:rPr>
              <a:t>P</a:t>
            </a:r>
            <a:r>
              <a:rPr lang="en-US" sz="7999" u="sng">
                <a:solidFill>
                  <a:srgbClr val="6C4B3B"/>
                </a:solidFill>
                <a:latin typeface="Yeseva One"/>
                <a:ea typeface="Yeseva One"/>
                <a:cs typeface="Yeseva One"/>
                <a:sym typeface="Yeseva One"/>
              </a:rPr>
              <a:t>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50313" y="4156495"/>
            <a:ext cx="14328979" cy="312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• F</a:t>
            </a:r>
            <a:r>
              <a:rPr lang="en-US" sz="4499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ake news spreads rapidly on digital platforms.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• It misleads users and impacts society, politics, and public trust.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• Manual verification is slow and unreliable.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5235826" y="-762249"/>
            <a:ext cx="10471651" cy="7825179"/>
          </a:xfrm>
          <a:custGeom>
            <a:avLst/>
            <a:gdLst/>
            <a:ahLst/>
            <a:cxnLst/>
            <a:rect r="r" b="b" t="t" l="l"/>
            <a:pathLst>
              <a:path h="7825179" w="10471651">
                <a:moveTo>
                  <a:pt x="10471652" y="0"/>
                </a:moveTo>
                <a:lnTo>
                  <a:pt x="0" y="0"/>
                </a:lnTo>
                <a:lnTo>
                  <a:pt x="0" y="7825179"/>
                </a:lnTo>
                <a:lnTo>
                  <a:pt x="10471652" y="7825179"/>
                </a:lnTo>
                <a:lnTo>
                  <a:pt x="10471652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0" y="7859131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3350468"/>
                </a:moveTo>
                <a:lnTo>
                  <a:pt x="4387518" y="3350468"/>
                </a:lnTo>
                <a:lnTo>
                  <a:pt x="4387518" y="0"/>
                </a:lnTo>
                <a:lnTo>
                  <a:pt x="0" y="0"/>
                </a:lnTo>
                <a:lnTo>
                  <a:pt x="0" y="3350468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07978" y="-1375509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0"/>
                </a:moveTo>
                <a:lnTo>
                  <a:pt x="4387518" y="0"/>
                </a:lnTo>
                <a:lnTo>
                  <a:pt x="4387518" y="3350468"/>
                </a:lnTo>
                <a:lnTo>
                  <a:pt x="0" y="3350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308447" y="3575384"/>
            <a:ext cx="10471651" cy="7825179"/>
          </a:xfrm>
          <a:custGeom>
            <a:avLst/>
            <a:gdLst/>
            <a:ahLst/>
            <a:cxnLst/>
            <a:rect r="r" b="b" t="t" l="l"/>
            <a:pathLst>
              <a:path h="7825179" w="10471651">
                <a:moveTo>
                  <a:pt x="10471651" y="0"/>
                </a:moveTo>
                <a:lnTo>
                  <a:pt x="0" y="0"/>
                </a:lnTo>
                <a:lnTo>
                  <a:pt x="0" y="7825179"/>
                </a:lnTo>
                <a:lnTo>
                  <a:pt x="10471651" y="7825179"/>
                </a:lnTo>
                <a:lnTo>
                  <a:pt x="10471651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79553" y="1753338"/>
            <a:ext cx="10328894" cy="136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</a:pPr>
            <a:r>
              <a:rPr lang="en-US" sz="7999" u="sng">
                <a:solidFill>
                  <a:srgbClr val="6C4B3B"/>
                </a:solidFill>
                <a:latin typeface="Yeseva One"/>
                <a:ea typeface="Yeseva One"/>
                <a:cs typeface="Yeseva One"/>
                <a:sym typeface="Yeseva One"/>
              </a:rPr>
              <a:t>P</a:t>
            </a:r>
            <a:r>
              <a:rPr lang="en-US" sz="7999" u="sng">
                <a:solidFill>
                  <a:srgbClr val="6C4B3B"/>
                </a:solidFill>
                <a:latin typeface="Yeseva One"/>
                <a:ea typeface="Yeseva One"/>
                <a:cs typeface="Yeseva One"/>
                <a:sym typeface="Yeseva One"/>
              </a:rPr>
              <a:t>roposed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04155" y="3868156"/>
            <a:ext cx="13393990" cy="39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• Will D</a:t>
            </a:r>
            <a:r>
              <a:rPr lang="en-US" sz="45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evelop an AI-based system to detect fake news automatically.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• Use Machine Learning and Natural Language Processing (NLP).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• Classify news as Real or Fake.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52174" y="-600104"/>
            <a:ext cx="10471651" cy="7825179"/>
          </a:xfrm>
          <a:custGeom>
            <a:avLst/>
            <a:gdLst/>
            <a:ahLst/>
            <a:cxnLst/>
            <a:rect r="r" b="b" t="t" l="l"/>
            <a:pathLst>
              <a:path h="7825179" w="10471651">
                <a:moveTo>
                  <a:pt x="0" y="0"/>
                </a:moveTo>
                <a:lnTo>
                  <a:pt x="10471652" y="0"/>
                </a:lnTo>
                <a:lnTo>
                  <a:pt x="10471652" y="7825179"/>
                </a:lnTo>
                <a:lnTo>
                  <a:pt x="0" y="7825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648340" y="3349055"/>
            <a:ext cx="10471651" cy="7825179"/>
          </a:xfrm>
          <a:custGeom>
            <a:avLst/>
            <a:gdLst/>
            <a:ahLst/>
            <a:cxnLst/>
            <a:rect r="r" b="b" t="t" l="l"/>
            <a:pathLst>
              <a:path h="7825179" w="10471651">
                <a:moveTo>
                  <a:pt x="0" y="0"/>
                </a:moveTo>
                <a:lnTo>
                  <a:pt x="10471651" y="0"/>
                </a:lnTo>
                <a:lnTo>
                  <a:pt x="10471651" y="7825180"/>
                </a:lnTo>
                <a:lnTo>
                  <a:pt x="0" y="7825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89699" y="-1154644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0"/>
                </a:moveTo>
                <a:lnTo>
                  <a:pt x="4387518" y="0"/>
                </a:lnTo>
                <a:lnTo>
                  <a:pt x="4387518" y="3350468"/>
                </a:lnTo>
                <a:lnTo>
                  <a:pt x="0" y="3350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3900482" y="7823766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3350469"/>
                </a:moveTo>
                <a:lnTo>
                  <a:pt x="4387518" y="3350469"/>
                </a:lnTo>
                <a:lnTo>
                  <a:pt x="4387518" y="0"/>
                </a:lnTo>
                <a:lnTo>
                  <a:pt x="0" y="0"/>
                </a:lnTo>
                <a:lnTo>
                  <a:pt x="0" y="3350469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76528" y="2071999"/>
            <a:ext cx="10268243" cy="136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</a:pPr>
            <a:r>
              <a:rPr lang="en-US" sz="7999" u="sng">
                <a:solidFill>
                  <a:srgbClr val="6C4B3B"/>
                </a:solidFill>
                <a:latin typeface="Yeseva One"/>
                <a:ea typeface="Yeseva One"/>
                <a:cs typeface="Yeseva One"/>
                <a:sym typeface="Yeseva One"/>
              </a:rPr>
              <a:t>Ob</a:t>
            </a:r>
            <a:r>
              <a:rPr lang="en-US" sz="7999" u="sng">
                <a:solidFill>
                  <a:srgbClr val="6C4B3B"/>
                </a:solidFill>
                <a:latin typeface="Yeseva One"/>
                <a:ea typeface="Yeseva One"/>
                <a:cs typeface="Yeseva One"/>
                <a:sym typeface="Yeseva One"/>
              </a:rPr>
              <a:t>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27983" y="4197771"/>
            <a:ext cx="12213035" cy="351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•Analyze news content using AI</a:t>
            </a:r>
          </a:p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• Detect fake news with high accuracy</a:t>
            </a:r>
          </a:p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• Reduce misinformation spread</a:t>
            </a:r>
          </a:p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• Build a scalable detection model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5235826" y="-762249"/>
            <a:ext cx="10471651" cy="7825179"/>
          </a:xfrm>
          <a:custGeom>
            <a:avLst/>
            <a:gdLst/>
            <a:ahLst/>
            <a:cxnLst/>
            <a:rect r="r" b="b" t="t" l="l"/>
            <a:pathLst>
              <a:path h="7825179" w="10471651">
                <a:moveTo>
                  <a:pt x="10471652" y="0"/>
                </a:moveTo>
                <a:lnTo>
                  <a:pt x="0" y="0"/>
                </a:lnTo>
                <a:lnTo>
                  <a:pt x="0" y="7825179"/>
                </a:lnTo>
                <a:lnTo>
                  <a:pt x="10471652" y="7825179"/>
                </a:lnTo>
                <a:lnTo>
                  <a:pt x="10471652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0" y="7859131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3350468"/>
                </a:moveTo>
                <a:lnTo>
                  <a:pt x="4387518" y="3350468"/>
                </a:lnTo>
                <a:lnTo>
                  <a:pt x="4387518" y="0"/>
                </a:lnTo>
                <a:lnTo>
                  <a:pt x="0" y="0"/>
                </a:lnTo>
                <a:lnTo>
                  <a:pt x="0" y="3350468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07978" y="-1375509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0"/>
                </a:moveTo>
                <a:lnTo>
                  <a:pt x="4387518" y="0"/>
                </a:lnTo>
                <a:lnTo>
                  <a:pt x="4387518" y="3350468"/>
                </a:lnTo>
                <a:lnTo>
                  <a:pt x="0" y="3350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308447" y="3575384"/>
            <a:ext cx="10471651" cy="7825179"/>
          </a:xfrm>
          <a:custGeom>
            <a:avLst/>
            <a:gdLst/>
            <a:ahLst/>
            <a:cxnLst/>
            <a:rect r="r" b="b" t="t" l="l"/>
            <a:pathLst>
              <a:path h="7825179" w="10471651">
                <a:moveTo>
                  <a:pt x="10471651" y="0"/>
                </a:moveTo>
                <a:lnTo>
                  <a:pt x="0" y="0"/>
                </a:lnTo>
                <a:lnTo>
                  <a:pt x="0" y="7825179"/>
                </a:lnTo>
                <a:lnTo>
                  <a:pt x="10471651" y="7825179"/>
                </a:lnTo>
                <a:lnTo>
                  <a:pt x="10471651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35474" y="1589233"/>
            <a:ext cx="9217053" cy="136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</a:pPr>
            <a:r>
              <a:rPr lang="en-US" sz="7999" u="sng">
                <a:solidFill>
                  <a:srgbClr val="6C4B3B"/>
                </a:solidFill>
                <a:latin typeface="Yeseva One"/>
                <a:ea typeface="Yeseva One"/>
                <a:cs typeface="Yeseva One"/>
                <a:sym typeface="Yeseva One"/>
              </a:rPr>
              <a:t>M</a:t>
            </a:r>
            <a:r>
              <a:rPr lang="en-US" sz="7999" u="sng">
                <a:solidFill>
                  <a:srgbClr val="6C4B3B"/>
                </a:solidFill>
                <a:latin typeface="Yeseva One"/>
                <a:ea typeface="Yeseva One"/>
                <a:cs typeface="Yeseva One"/>
                <a:sym typeface="Yeseva One"/>
              </a:rPr>
              <a:t>ethodology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09615" y="3489326"/>
            <a:ext cx="11309350" cy="4397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1. Data Collection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2. Data Preprocessing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3. Feature Extraction 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4. Model Training (ML Algorithms)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5. Prediction &amp; Evaluation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5235826" y="-762249"/>
            <a:ext cx="10471651" cy="7825179"/>
          </a:xfrm>
          <a:custGeom>
            <a:avLst/>
            <a:gdLst/>
            <a:ahLst/>
            <a:cxnLst/>
            <a:rect r="r" b="b" t="t" l="l"/>
            <a:pathLst>
              <a:path h="7825179" w="10471651">
                <a:moveTo>
                  <a:pt x="10471652" y="0"/>
                </a:moveTo>
                <a:lnTo>
                  <a:pt x="0" y="0"/>
                </a:lnTo>
                <a:lnTo>
                  <a:pt x="0" y="7825179"/>
                </a:lnTo>
                <a:lnTo>
                  <a:pt x="10471652" y="7825179"/>
                </a:lnTo>
                <a:lnTo>
                  <a:pt x="10471652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0" y="7859131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3350468"/>
                </a:moveTo>
                <a:lnTo>
                  <a:pt x="4387518" y="3350468"/>
                </a:lnTo>
                <a:lnTo>
                  <a:pt x="4387518" y="0"/>
                </a:lnTo>
                <a:lnTo>
                  <a:pt x="0" y="0"/>
                </a:lnTo>
                <a:lnTo>
                  <a:pt x="0" y="3350468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07978" y="-1375509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0"/>
                </a:moveTo>
                <a:lnTo>
                  <a:pt x="4387518" y="0"/>
                </a:lnTo>
                <a:lnTo>
                  <a:pt x="4387518" y="3350468"/>
                </a:lnTo>
                <a:lnTo>
                  <a:pt x="0" y="3350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308447" y="3575384"/>
            <a:ext cx="10471651" cy="7825179"/>
          </a:xfrm>
          <a:custGeom>
            <a:avLst/>
            <a:gdLst/>
            <a:ahLst/>
            <a:cxnLst/>
            <a:rect r="r" b="b" t="t" l="l"/>
            <a:pathLst>
              <a:path h="7825179" w="10471651">
                <a:moveTo>
                  <a:pt x="10471651" y="0"/>
                </a:moveTo>
                <a:lnTo>
                  <a:pt x="0" y="0"/>
                </a:lnTo>
                <a:lnTo>
                  <a:pt x="0" y="7825179"/>
                </a:lnTo>
                <a:lnTo>
                  <a:pt x="10471651" y="7825179"/>
                </a:lnTo>
                <a:lnTo>
                  <a:pt x="10471651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22544" y="2363928"/>
            <a:ext cx="10566762" cy="136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</a:pPr>
            <a:r>
              <a:rPr lang="en-US" sz="7999" u="sng">
                <a:solidFill>
                  <a:srgbClr val="6C4B3B"/>
                </a:solidFill>
                <a:latin typeface="Yeseva One"/>
                <a:ea typeface="Yeseva One"/>
                <a:cs typeface="Yeseva One"/>
                <a:sym typeface="Yeseva One"/>
              </a:rPr>
              <a:t>Exp</a:t>
            </a:r>
            <a:r>
              <a:rPr lang="en-US" sz="7999" u="sng">
                <a:solidFill>
                  <a:srgbClr val="6C4B3B"/>
                </a:solidFill>
                <a:latin typeface="Yeseva One"/>
                <a:ea typeface="Yeseva One"/>
                <a:cs typeface="Yeseva One"/>
                <a:sym typeface="Yeseva One"/>
              </a:rPr>
              <a:t>ected Outcomes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59422" y="4437206"/>
            <a:ext cx="12293005" cy="262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• Accur</a:t>
            </a:r>
            <a:r>
              <a:rPr lang="en-US" sz="50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ate fake news detection system</a:t>
            </a:r>
          </a:p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• Improved public awareness</a:t>
            </a:r>
          </a:p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• Reliable automated verification tool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5235826" y="-762249"/>
            <a:ext cx="10471651" cy="7825179"/>
          </a:xfrm>
          <a:custGeom>
            <a:avLst/>
            <a:gdLst/>
            <a:ahLst/>
            <a:cxnLst/>
            <a:rect r="r" b="b" t="t" l="l"/>
            <a:pathLst>
              <a:path h="7825179" w="10471651">
                <a:moveTo>
                  <a:pt x="10471652" y="0"/>
                </a:moveTo>
                <a:lnTo>
                  <a:pt x="0" y="0"/>
                </a:lnTo>
                <a:lnTo>
                  <a:pt x="0" y="7825179"/>
                </a:lnTo>
                <a:lnTo>
                  <a:pt x="10471652" y="7825179"/>
                </a:lnTo>
                <a:lnTo>
                  <a:pt x="10471652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0" y="7859131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3350468"/>
                </a:moveTo>
                <a:lnTo>
                  <a:pt x="4387518" y="3350468"/>
                </a:lnTo>
                <a:lnTo>
                  <a:pt x="4387518" y="0"/>
                </a:lnTo>
                <a:lnTo>
                  <a:pt x="0" y="0"/>
                </a:lnTo>
                <a:lnTo>
                  <a:pt x="0" y="3350468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07978" y="-1375509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0"/>
                </a:moveTo>
                <a:lnTo>
                  <a:pt x="4387518" y="0"/>
                </a:lnTo>
                <a:lnTo>
                  <a:pt x="4387518" y="3350468"/>
                </a:lnTo>
                <a:lnTo>
                  <a:pt x="0" y="3350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308447" y="3575384"/>
            <a:ext cx="10471651" cy="7825179"/>
          </a:xfrm>
          <a:custGeom>
            <a:avLst/>
            <a:gdLst/>
            <a:ahLst/>
            <a:cxnLst/>
            <a:rect r="r" b="b" t="t" l="l"/>
            <a:pathLst>
              <a:path h="7825179" w="10471651">
                <a:moveTo>
                  <a:pt x="10471651" y="0"/>
                </a:moveTo>
                <a:lnTo>
                  <a:pt x="0" y="0"/>
                </a:lnTo>
                <a:lnTo>
                  <a:pt x="0" y="7825179"/>
                </a:lnTo>
                <a:lnTo>
                  <a:pt x="10471651" y="7825179"/>
                </a:lnTo>
                <a:lnTo>
                  <a:pt x="10471651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35474" y="1756522"/>
            <a:ext cx="9217053" cy="136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</a:pPr>
            <a:r>
              <a:rPr lang="en-US" sz="7999" u="sng">
                <a:solidFill>
                  <a:srgbClr val="6C4B3B"/>
                </a:solidFill>
                <a:latin typeface="Yeseva One"/>
                <a:ea typeface="Yeseva One"/>
                <a:cs typeface="Yeseva One"/>
                <a:sym typeface="Yeseva One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34692" y="3688641"/>
            <a:ext cx="12744475" cy="351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• AI</a:t>
            </a:r>
            <a:r>
              <a:rPr lang="en-US" sz="50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can effectively help detect fake news.</a:t>
            </a:r>
          </a:p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6C4B3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• This project contributes to safer digital information sharing.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1165059" y="518525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0"/>
                </a:moveTo>
                <a:lnTo>
                  <a:pt x="4387518" y="0"/>
                </a:lnTo>
                <a:lnTo>
                  <a:pt x="4387518" y="3350468"/>
                </a:lnTo>
                <a:lnTo>
                  <a:pt x="0" y="3350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4647074" y="6938276"/>
            <a:ext cx="4387518" cy="3350468"/>
          </a:xfrm>
          <a:custGeom>
            <a:avLst/>
            <a:gdLst/>
            <a:ahLst/>
            <a:cxnLst/>
            <a:rect r="r" b="b" t="t" l="l"/>
            <a:pathLst>
              <a:path h="3350468" w="4387518">
                <a:moveTo>
                  <a:pt x="0" y="3350468"/>
                </a:moveTo>
                <a:lnTo>
                  <a:pt x="4387518" y="3350468"/>
                </a:lnTo>
                <a:lnTo>
                  <a:pt x="4387518" y="0"/>
                </a:lnTo>
                <a:lnTo>
                  <a:pt x="0" y="0"/>
                </a:lnTo>
                <a:lnTo>
                  <a:pt x="0" y="3350468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90112" y="3624419"/>
            <a:ext cx="14107775" cy="279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51"/>
              </a:lnSpc>
            </a:pPr>
            <a:r>
              <a:rPr lang="en-US" sz="16322">
                <a:solidFill>
                  <a:srgbClr val="6C4B3B"/>
                </a:solidFill>
                <a:latin typeface="Yeseva One"/>
                <a:ea typeface="Yeseva One"/>
                <a:cs typeface="Yeseva One"/>
                <a:sym typeface="Yeseva One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9828150" y="-5257350"/>
            <a:ext cx="8687917" cy="8217506"/>
          </a:xfrm>
          <a:custGeom>
            <a:avLst/>
            <a:gdLst/>
            <a:ahLst/>
            <a:cxnLst/>
            <a:rect r="r" b="b" t="t" l="l"/>
            <a:pathLst>
              <a:path h="8217506" w="8687917">
                <a:moveTo>
                  <a:pt x="8687917" y="8217506"/>
                </a:moveTo>
                <a:lnTo>
                  <a:pt x="0" y="8217506"/>
                </a:lnTo>
                <a:lnTo>
                  <a:pt x="0" y="0"/>
                </a:lnTo>
                <a:lnTo>
                  <a:pt x="8687917" y="0"/>
                </a:lnTo>
                <a:lnTo>
                  <a:pt x="8687917" y="8217506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66714" y="7823766"/>
            <a:ext cx="8687917" cy="8217506"/>
          </a:xfrm>
          <a:custGeom>
            <a:avLst/>
            <a:gdLst/>
            <a:ahLst/>
            <a:cxnLst/>
            <a:rect r="r" b="b" t="t" l="l"/>
            <a:pathLst>
              <a:path h="8217506" w="8687917">
                <a:moveTo>
                  <a:pt x="0" y="0"/>
                </a:moveTo>
                <a:lnTo>
                  <a:pt x="8687917" y="0"/>
                </a:lnTo>
                <a:lnTo>
                  <a:pt x="8687917" y="8217506"/>
                </a:lnTo>
                <a:lnTo>
                  <a:pt x="0" y="8217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DAG_oO39FWE</dc:identifier>
  <dcterms:modified xsi:type="dcterms:W3CDTF">2011-08-01T06:04:30Z</dcterms:modified>
  <cp:revision>1</cp:revision>
  <dc:title>Fake NEWS Detection</dc:title>
</cp:coreProperties>
</file>